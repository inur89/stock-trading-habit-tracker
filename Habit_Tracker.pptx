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1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917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323632" y="436863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DLBDSOOFPP01  ·  PROJECT NAME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3632" y="1087111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TRADING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TRACKER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3632" y="3450135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reflects the current, tested state of the project: create, check off, edit, and delete habits, a functional analytics module, and 33 passing tests — up from 29 after adding habit-editing support.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3029" y="4709160"/>
            <a:ext cx="3548742" cy="0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260019" y="4884276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Aynur Rzayeva-Karabulut
</a:t>
            </a:r>
            <a:r>
              <a:rPr lang="en-US" sz="11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Matriculation No. UPS10746239
IU Internationale Hochschule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79576" y="1252728"/>
            <a:ext cx="4663784" cy="3895344"/>
          </a:xfrm>
          <a:prstGeom prst="roundRect">
            <a:avLst>
              <a:gd name="adj" fmla="val 1408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7051971" y="1309164"/>
            <a:ext cx="64810" cy="3740409"/>
          </a:xfrm>
          <a:prstGeom prst="round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800100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HABIT-TRACKER.IPYNB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01000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▲ 33/33 </a:t>
            </a:r>
            <a:r>
              <a:rPr lang="en-US" sz="115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 PASSING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55147" y="2674620"/>
            <a:ext cx="3720573" cy="0"/>
          </a:xfrm>
          <a:prstGeom prst="line">
            <a:avLst/>
          </a:prstGeom>
          <a:noFill/>
          <a:ln w="9525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7755147" y="3194914"/>
            <a:ext cx="3720573" cy="5486"/>
          </a:xfrm>
          <a:prstGeom prst="line">
            <a:avLst/>
          </a:prstGeom>
          <a:noFill/>
          <a:ln w="9525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7755148" y="3696918"/>
            <a:ext cx="3720572" cy="10976"/>
          </a:xfrm>
          <a:prstGeom prst="line">
            <a:avLst/>
          </a:prstGeom>
          <a:noFill/>
          <a:ln w="9525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8125097" y="3663086"/>
            <a:ext cx="0" cy="210312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8056844" y="3726180"/>
            <a:ext cx="136507" cy="10515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8373291" y="3621024"/>
            <a:ext cx="0" cy="16825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8305038" y="3726180"/>
            <a:ext cx="136507" cy="4206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8621486" y="3557930"/>
            <a:ext cx="0" cy="252374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8553232" y="3599993"/>
            <a:ext cx="136507" cy="16825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8869680" y="3515868"/>
            <a:ext cx="0" cy="16825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8801427" y="3599993"/>
            <a:ext cx="136507" cy="4206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9117874" y="3452774"/>
            <a:ext cx="0" cy="210312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9049621" y="3494837"/>
            <a:ext cx="136507" cy="14721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9366069" y="3473806"/>
            <a:ext cx="0" cy="147218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9297815" y="3494837"/>
            <a:ext cx="136507" cy="8412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9614263" y="3368650"/>
            <a:ext cx="0" cy="231343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9546009" y="3410712"/>
            <a:ext cx="136507" cy="16825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6" name="Shape 34"/>
          <p:cNvSpPr/>
          <p:nvPr/>
        </p:nvSpPr>
        <p:spPr>
          <a:xfrm>
            <a:off x="9862457" y="3242462"/>
            <a:ext cx="0" cy="210312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5"/>
          <p:cNvSpPr/>
          <p:nvPr/>
        </p:nvSpPr>
        <p:spPr>
          <a:xfrm>
            <a:off x="9794204" y="3284525"/>
            <a:ext cx="136507" cy="126187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10110651" y="3263494"/>
            <a:ext cx="0" cy="147218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7"/>
          <p:cNvSpPr/>
          <p:nvPr/>
        </p:nvSpPr>
        <p:spPr>
          <a:xfrm>
            <a:off x="10042398" y="3284525"/>
            <a:ext cx="136507" cy="8412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0" name="Shape 38"/>
          <p:cNvSpPr/>
          <p:nvPr/>
        </p:nvSpPr>
        <p:spPr>
          <a:xfrm>
            <a:off x="10358846" y="3158338"/>
            <a:ext cx="0" cy="231343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Shape 39"/>
          <p:cNvSpPr/>
          <p:nvPr/>
        </p:nvSpPr>
        <p:spPr>
          <a:xfrm>
            <a:off x="10290592" y="3200400"/>
            <a:ext cx="136507" cy="16825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2" name="Shape 40"/>
          <p:cNvSpPr/>
          <p:nvPr/>
        </p:nvSpPr>
        <p:spPr>
          <a:xfrm>
            <a:off x="10607040" y="3032150"/>
            <a:ext cx="0" cy="210312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Shape 41"/>
          <p:cNvSpPr/>
          <p:nvPr/>
        </p:nvSpPr>
        <p:spPr>
          <a:xfrm>
            <a:off x="10538787" y="3074213"/>
            <a:ext cx="136507" cy="126187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4" name="Shape 42"/>
          <p:cNvSpPr/>
          <p:nvPr/>
        </p:nvSpPr>
        <p:spPr>
          <a:xfrm>
            <a:off x="10855234" y="3053182"/>
            <a:ext cx="0" cy="147218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43"/>
          <p:cNvSpPr/>
          <p:nvPr/>
        </p:nvSpPr>
        <p:spPr>
          <a:xfrm>
            <a:off x="10786981" y="3074213"/>
            <a:ext cx="136507" cy="8412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6" name="Shape 44"/>
          <p:cNvSpPr/>
          <p:nvPr/>
        </p:nvSpPr>
        <p:spPr>
          <a:xfrm>
            <a:off x="11103429" y="2905963"/>
            <a:ext cx="0" cy="273406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Shape 45"/>
          <p:cNvSpPr/>
          <p:nvPr/>
        </p:nvSpPr>
        <p:spPr>
          <a:xfrm>
            <a:off x="11035175" y="2948026"/>
            <a:ext cx="136507" cy="21031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8" name="Shape 46"/>
          <p:cNvSpPr/>
          <p:nvPr/>
        </p:nvSpPr>
        <p:spPr>
          <a:xfrm>
            <a:off x="11351623" y="2779776"/>
            <a:ext cx="0" cy="210312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Shape 47"/>
          <p:cNvSpPr/>
          <p:nvPr/>
        </p:nvSpPr>
        <p:spPr>
          <a:xfrm>
            <a:off x="11283369" y="2821838"/>
            <a:ext cx="136507" cy="126187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0" name="Shape 48"/>
          <p:cNvSpPr/>
          <p:nvPr/>
        </p:nvSpPr>
        <p:spPr>
          <a:xfrm>
            <a:off x="7755148" y="4189780"/>
            <a:ext cx="3720572" cy="71326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/>
          <p:nvPr/>
        </p:nvSpPr>
        <p:spPr>
          <a:xfrm>
            <a:off x="8001000" y="43159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28-DAY DEMO DATA · 5 PREDEFINED HABITS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110996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9</a:t>
            </a:r>
            <a:endParaRPr lang="en-US" sz="950" dirty="0"/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4E3FB6D6-7EB3-3663-F784-70E34D8E2DAB}"/>
              </a:ext>
            </a:extLst>
          </p:cNvPr>
          <p:cNvSpPr/>
          <p:nvPr/>
        </p:nvSpPr>
        <p:spPr>
          <a:xfrm>
            <a:off x="283029" y="300735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3F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Finalization Phase</a:t>
            </a:r>
            <a:endParaRPr lang="en-US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FEATURE COMPLETENESS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Newly Added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94960" cy="4709160"/>
          </a:xfrm>
          <a:prstGeom prst="roundRect">
            <a:avLst>
              <a:gd name="adj" fmla="val 971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864" cy="4709160"/>
          </a:xfrm>
          <a:prstGeom prst="round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CRUD pattern: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9319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41B2B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48840" y="3931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add_habit()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44348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41B2B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822960" y="4434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48840" y="4434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show_all_habits() / analytics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493776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41B2B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48840" y="4937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edit_habit() — added this round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54406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41B2B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822960" y="5440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48840" y="54406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delete_habit() — added previously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5943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are now implemented and individually unit-tested.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1508760"/>
            <a:ext cx="5394960" cy="4709160"/>
          </a:xfrm>
          <a:prstGeom prst="roundRect">
            <a:avLst>
              <a:gd name="adj" fmla="val 971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6263640" y="1508760"/>
            <a:ext cx="54864" cy="4709160"/>
          </a:xfrm>
          <a:prstGeom prst="round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6537960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▲ WHAT'S NEW THIS ROUND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796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7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Habit.edit()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37960" y="235000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name, description, or periodicity in place — same “None means keep it” pattern used elsewhere in the class.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37960" y="30815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7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edit_habit() in </a:t>
            </a:r>
            <a:r>
              <a:rPr lang="en-US" sz="1150" b="1" dirty="0" err="1">
                <a:solidFill>
                  <a:srgbClr val="E7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cli.ipynb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37960" y="337413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menu option [5]. Reuses the same “pick a habit by number” flow as delete, then asks for new values.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37960" y="4105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7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 renumbered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537960" y="439826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moved to [6], demo data to [7], to make room for Edit at [5].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37960" y="51297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7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TestEditHabit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537960" y="542239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new tests: rename only, edit multiple fields, no-op when blank, and completions stay untouched.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10996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9</a:t>
            </a:r>
            <a:endParaRPr lang="en-US" sz="9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010892-77DF-D32A-489F-7DB329B948FA}"/>
              </a:ext>
            </a:extLst>
          </p:cNvPr>
          <p:cNvSpPr txBox="1"/>
          <p:nvPr/>
        </p:nvSpPr>
        <p:spPr>
          <a:xfrm>
            <a:off x="687158" y="1902840"/>
            <a:ext cx="46996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All CRUD </a:t>
            </a:r>
            <a:r>
              <a:rPr lang="de-DE" sz="140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operations</a:t>
            </a:r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40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are</a:t>
            </a:r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40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now</a:t>
            </a:r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40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implemented</a:t>
            </a:r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and </a:t>
            </a:r>
            <a:r>
              <a:rPr lang="de-DE" sz="140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tested</a:t>
            </a:r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. The </a:t>
            </a:r>
            <a:r>
              <a:rPr lang="de-DE" sz="140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new</a:t>
            </a:r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40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edit_habit</a:t>
            </a:r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() feature </a:t>
            </a:r>
            <a:r>
              <a:rPr lang="de-DE" sz="140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updates</a:t>
            </a:r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40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habit</a:t>
            </a:r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40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details</a:t>
            </a:r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, and the </a:t>
            </a:r>
            <a:r>
              <a:rPr lang="de-DE" sz="140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menu</a:t>
            </a:r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was </a:t>
            </a:r>
            <a:r>
              <a:rPr lang="de-DE" sz="140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adjusted</a:t>
            </a:r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to </a:t>
            </a:r>
            <a:r>
              <a:rPr lang="de-DE" sz="140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include</a:t>
            </a:r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the </a:t>
            </a:r>
            <a:r>
              <a:rPr lang="de-DE" sz="140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new</a:t>
            </a:r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40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option</a:t>
            </a:r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. </a:t>
            </a:r>
            <a:r>
              <a:rPr lang="de-DE" sz="140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Four</a:t>
            </a:r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40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new</a:t>
            </a:r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40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tests</a:t>
            </a:r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40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ensure</a:t>
            </a:r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40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correct</a:t>
            </a:r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40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edit</a:t>
            </a:r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40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behavior</a:t>
            </a:r>
            <a:r>
              <a:rPr lang="de-DE" sz="140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CODE WALKTHROUGH · 01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&amp; Edit, Side by Side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Both „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delete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“ and „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edit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“ follow the same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user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flow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: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list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habits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select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one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then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perform the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action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. Delete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requires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explicit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confirmation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while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edit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allows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updating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fields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or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keeping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existing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values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.</a:t>
            </a:r>
            <a:endParaRPr lang="en-US" sz="1150" dirty="0">
              <a:solidFill>
                <a:srgbClr val="8A93A8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86400" cy="4251960"/>
          </a:xfrm>
          <a:prstGeom prst="roundRect">
            <a:avLst>
              <a:gd name="adj" fmla="val 1075"/>
            </a:avLst>
          </a:prstGeom>
          <a:solidFill>
            <a:srgbClr val="0D1220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486400" cy="310896"/>
          </a:xfrm>
          <a:prstGeom prst="rect">
            <a:avLst/>
          </a:prstGeom>
          <a:solidFill>
            <a:srgbClr val="171F3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cli.ipynb</a:t>
            </a:r>
            <a:r>
              <a:rPr lang="en-US" sz="105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delete_habit()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2414016"/>
            <a:ext cx="515721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00" dirty="0">
                <a:solidFill>
                  <a:srgbClr val="7D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delete_habit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(habits: list) -&gt; list: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habits: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print("No habits to delete.")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habits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B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...list habits, ask for a number...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selected = habits[choice - 1]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B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Only remove if user types exactly "yes"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confirm = </a:t>
            </a:r>
            <a:r>
              <a:rPr lang="en-US" sz="1000" dirty="0">
                <a:solidFill>
                  <a:srgbClr val="7D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f"Delete '{selected.name}'? [yes/no]: "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).strip().lower()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 == </a:t>
            </a:r>
            <a:r>
              <a:rPr lang="en-US" sz="10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"yes"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habits.pop(choice - 1)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save(habits)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habits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2011680"/>
            <a:ext cx="5486400" cy="4251960"/>
          </a:xfrm>
          <a:prstGeom prst="roundRect">
            <a:avLst>
              <a:gd name="adj" fmla="val 1075"/>
            </a:avLst>
          </a:prstGeom>
          <a:solidFill>
            <a:srgbClr val="0D1220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6172200" y="2011680"/>
            <a:ext cx="5486400" cy="310896"/>
          </a:xfrm>
          <a:prstGeom prst="rect">
            <a:avLst/>
          </a:prstGeom>
          <a:solidFill>
            <a:srgbClr val="171F3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309360" y="201168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cli.ipynb</a:t>
            </a:r>
            <a:r>
              <a:rPr lang="en-US" sz="105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edit_habit()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36792" y="2414016"/>
            <a:ext cx="515721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00" dirty="0">
                <a:solidFill>
                  <a:srgbClr val="7D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edit_habit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(habits: list) -&gt; list: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B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...same selection loop as delete_habit...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selected = habits[choice - 1]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print("Leave blank to keep current value.")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new_name = </a:t>
            </a:r>
            <a:r>
              <a:rPr lang="en-US" sz="1000" dirty="0">
                <a:solidFill>
                  <a:srgbClr val="7D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f"New name [{selected.name}]: "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).strip()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B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...same for description and periodicity...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B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"" or None  -&gt;  None  (Python treats "" as falsy)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selected.edit(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name=new_name </a:t>
            </a: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None,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description=new_description </a:t>
            </a: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None,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periodicity=new_periodicity </a:t>
            </a: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None,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save(habits)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habits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0996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9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CODE WALKTHROUGH · 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edit() Method Itself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The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edit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method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updates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only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the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fields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provided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leaving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others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unchanged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.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Streaks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and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completion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history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remain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intact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ensuring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progress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is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never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reset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by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editing</a:t>
            </a:r>
            <a:r>
              <a:rPr lang="de-DE" sz="1200" dirty="0">
                <a:solidFill>
                  <a:schemeClr val="bg1"/>
                </a:solidFill>
              </a:rPr>
              <a:t>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194560" y="2103120"/>
            <a:ext cx="7772400" cy="3840480"/>
          </a:xfrm>
          <a:prstGeom prst="roundRect">
            <a:avLst>
              <a:gd name="adj" fmla="val 1190"/>
            </a:avLst>
          </a:prstGeom>
          <a:solidFill>
            <a:srgbClr val="0D1220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2194560" y="2103120"/>
            <a:ext cx="7772400" cy="310896"/>
          </a:xfrm>
          <a:prstGeom prst="rect">
            <a:avLst/>
          </a:prstGeom>
          <a:solidFill>
            <a:srgbClr val="171F3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2331720" y="210312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habit.ipynb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59152" y="2505456"/>
            <a:ext cx="744321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00" dirty="0">
                <a:solidFill>
                  <a:srgbClr val="7D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name=None, description=None, periodicity=None):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"""Update one or more fields. Leave an argument as None to keep it unchanged."""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</a:t>
            </a: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not 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None: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</a:t>
            </a: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not 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None: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self.description = description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periodicity </a:t>
            </a: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not 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None: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self.periodicity = periodicity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B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Note: completions and streak history are never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B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touched here — editing a habit's details doesn't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B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reset its progress.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0996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9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CODE WALKTHROUGH · 03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Analytics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assignment specifically requires the analytics module to use functional programming: map / filter instead of hand-written for-loops. Every function below takes a list of habits in and returns an answer — it never modifies the list it was given.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86400" cy="4206240"/>
          </a:xfrm>
          <a:prstGeom prst="roundRect">
            <a:avLst>
              <a:gd name="adj" fmla="val 1087"/>
            </a:avLst>
          </a:prstGeom>
          <a:solidFill>
            <a:srgbClr val="0D1220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486400" cy="310896"/>
          </a:xfrm>
          <a:prstGeom prst="rect">
            <a:avLst/>
          </a:prstGeom>
          <a:solidFill>
            <a:srgbClr val="171F3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 err="1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analytics.ipynb</a:t>
            </a:r>
            <a:r>
              <a:rPr lang="en-US" sz="105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filter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2459736"/>
            <a:ext cx="515721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B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Keep only habits matching one periodicity.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B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filter() walks the list once, keeping an item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B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only if the lambda returns True for it.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00" dirty="0">
                <a:solidFill>
                  <a:srgbClr val="7D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get_habits_by_period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(habits: list, period: str):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</a:t>
            </a:r>
            <a:r>
              <a:rPr lang="en-US" sz="1000" dirty="0">
                <a:solidFill>
                  <a:srgbClr val="7D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 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h: h.periodicity == period,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habits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B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&gt;&gt;&gt; get_habits_by_period(habits, "daily")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B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[Habit('Read Market News'), Habit('Check Portfolio'), ...]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2057400"/>
            <a:ext cx="5486400" cy="4206240"/>
          </a:xfrm>
          <a:prstGeom prst="roundRect">
            <a:avLst>
              <a:gd name="adj" fmla="val 1087"/>
            </a:avLst>
          </a:prstGeom>
          <a:solidFill>
            <a:srgbClr val="0D1220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6172200" y="2057400"/>
            <a:ext cx="5486400" cy="310896"/>
          </a:xfrm>
          <a:prstGeom prst="rect">
            <a:avLst/>
          </a:prstGeom>
          <a:solidFill>
            <a:srgbClr val="171F3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309360" y="205740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 err="1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analytics.ipynb</a:t>
            </a:r>
            <a:r>
              <a:rPr lang="en-US" sz="105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max()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36792" y="2459736"/>
            <a:ext cx="515721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B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the single habit with the longest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B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all-time streak by comparing them pairwise.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00" dirty="0">
                <a:solidFill>
                  <a:srgbClr val="7D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get_longest_streak_all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(habits: list):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habits: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000" dirty="0">
                <a:solidFill>
                  <a:srgbClr val="7D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habits,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key=</a:t>
            </a:r>
            <a:r>
              <a:rPr lang="en-US" sz="1000" b="1" dirty="0">
                <a:solidFill>
                  <a:srgbClr val="C79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 </a:t>
            </a: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h: h.get_longest_streak()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B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get_longest_streak_for() then reuses this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B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 a single habit passed in directly.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0996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9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SYSTEM DESIGN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Architecture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There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are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six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files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each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with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one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job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.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cli.ipynb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is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the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only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one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that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interacts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with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the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user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—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everything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else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is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a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plain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function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library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that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it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calls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on. This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is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exactly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what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makes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the 33-test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suite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possible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without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any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requirement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 for </a:t>
            </a:r>
            <a:r>
              <a:rPr lang="de-DE" sz="1150" dirty="0" err="1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mocking</a:t>
            </a:r>
            <a:r>
              <a:rPr lang="de-DE" sz="1150" dirty="0">
                <a:solidFill>
                  <a:srgbClr val="8A93A8"/>
                </a:solidFill>
                <a:latin typeface="Arial" pitchFamily="34" charset="0"/>
                <a:cs typeface="Arial" pitchFamily="34" charset="-120"/>
              </a:rPr>
              <a:t>.</a:t>
            </a:r>
          </a:p>
          <a:p>
            <a:br>
              <a:rPr lang="de-DE" sz="1200" dirty="0">
                <a:solidFill>
                  <a:schemeClr val="bg1"/>
                </a:solidFill>
              </a:rPr>
            </a:b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709160" y="2148840"/>
            <a:ext cx="2743200" cy="685800"/>
          </a:xfrm>
          <a:prstGeom prst="roundRect">
            <a:avLst>
              <a:gd name="adj" fmla="val 6667"/>
            </a:avLst>
          </a:prstGeom>
          <a:solidFill>
            <a:srgbClr val="171F31"/>
          </a:solidFill>
          <a:ln w="12700">
            <a:solidFill>
              <a:srgbClr val="3FA9F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709160" y="2148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 err="1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cli.</a:t>
            </a:r>
            <a:r>
              <a:rPr lang="en-US" sz="1400" dirty="0" err="1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ipynb</a:t>
            </a:r>
            <a:r>
              <a:rPr lang="en-US" sz="14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5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orchestration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2606040" cy="914400"/>
          </a:xfrm>
          <a:prstGeom prst="roundRect">
            <a:avLst>
              <a:gd name="adj" fmla="val 5000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54864" cy="9144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1005840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250" b="1" dirty="0" err="1">
                <a:solidFill>
                  <a:srgbClr val="E7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habit.</a:t>
            </a:r>
            <a:r>
              <a:rPr lang="en-US" sz="1400" dirty="0" err="1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ipynb</a:t>
            </a:r>
            <a:r>
              <a:rPr lang="en-US" sz="14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b="1" dirty="0">
                <a:solidFill>
                  <a:srgbClr val="E7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+ streak/edit logic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66160" y="3200400"/>
            <a:ext cx="2606040" cy="914400"/>
          </a:xfrm>
          <a:prstGeom prst="roundRect">
            <a:avLst>
              <a:gd name="adj" fmla="val 5000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3566160" y="3200400"/>
            <a:ext cx="54864" cy="914400"/>
          </a:xfrm>
          <a:prstGeom prst="rect">
            <a:avLst/>
          </a:prstGeom>
          <a:solidFill>
            <a:srgbClr val="3FA9F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3749040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250" b="1" dirty="0" err="1">
                <a:solidFill>
                  <a:srgbClr val="E7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</a:t>
            </a:r>
            <a:r>
              <a:rPr lang="en-US" sz="1400" dirty="0" err="1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ipynb</a:t>
            </a:r>
            <a:r>
              <a:rPr lang="en-US" sz="14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b="1" dirty="0">
                <a:solidFill>
                  <a:srgbClr val="E7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save() / load()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3200400"/>
            <a:ext cx="2606040" cy="914400"/>
          </a:xfrm>
          <a:prstGeom prst="roundRect">
            <a:avLst>
              <a:gd name="adj" fmla="val 5000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6309360" y="3200400"/>
            <a:ext cx="54864" cy="9144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492240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250" b="1" dirty="0" err="1">
                <a:solidFill>
                  <a:srgbClr val="E7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analytics.</a:t>
            </a:r>
            <a:r>
              <a:rPr lang="en-US" sz="1400" dirty="0" err="1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ipynb</a:t>
            </a:r>
            <a:r>
              <a:rPr lang="en-US" sz="14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b="1" dirty="0">
                <a:solidFill>
                  <a:srgbClr val="E7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map/filter/max, 7 fns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52560" y="3200400"/>
            <a:ext cx="2606040" cy="914400"/>
          </a:xfrm>
          <a:prstGeom prst="roundRect">
            <a:avLst>
              <a:gd name="adj" fmla="val 5000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9052560" y="3200400"/>
            <a:ext cx="54864" cy="9144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9235440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250" b="1" dirty="0" err="1">
                <a:solidFill>
                  <a:srgbClr val="E7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fixtures.</a:t>
            </a:r>
            <a:r>
              <a:rPr lang="en-US" sz="1400" dirty="0" err="1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ipynb</a:t>
            </a:r>
            <a:r>
              <a:rPr lang="en-US" sz="14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b="1" dirty="0">
                <a:solidFill>
                  <a:srgbClr val="E7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habits × 28 days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651760" y="4434840"/>
            <a:ext cx="3566160" cy="777240"/>
          </a:xfrm>
          <a:prstGeom prst="roundRect">
            <a:avLst>
              <a:gd name="adj" fmla="val 5882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2651760" y="443484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2834640" y="4434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250" b="1" dirty="0" err="1">
                <a:solidFill>
                  <a:srgbClr val="E7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test_habits.</a:t>
            </a:r>
            <a:r>
              <a:rPr lang="en-US" sz="1400" dirty="0" err="1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ipynb</a:t>
            </a:r>
            <a:r>
              <a:rPr lang="en-US" sz="1400" dirty="0">
                <a:solidFill>
                  <a:srgbClr val="D7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b="1" dirty="0">
                <a:solidFill>
                  <a:srgbClr val="E7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pytest cases, all passing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4434840"/>
            <a:ext cx="3566160" cy="777240"/>
          </a:xfrm>
          <a:prstGeom prst="roundRect">
            <a:avLst>
              <a:gd name="adj" fmla="val 5882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6355080" y="4434840"/>
            <a:ext cx="54864" cy="777240"/>
          </a:xfrm>
          <a:prstGeom prst="rect">
            <a:avLst/>
          </a:prstGeom>
          <a:solidFill>
            <a:srgbClr val="3FA9F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6537960" y="4434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7E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
</a:t>
            </a: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/ run / architecture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call: JSON over a database — no extra install, human-readable while debugging, and plenty for a single-user CLI at this scope.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10996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9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QUALITY ASSURANCE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Dashboard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module is tested in isolation — no mocking needed, because each file only depends on plain data (lists, dicts, dates) rather than the others' internals. Coverage grew from 29 to 33 tests specifically to add edit() coverage.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383280" cy="4160520"/>
          </a:xfrm>
          <a:prstGeom prst="roundRect">
            <a:avLst>
              <a:gd name="adj" fmla="val 1351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864" cy="4160520"/>
          </a:xfrm>
          <a:prstGeom prst="round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33 PASSING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2834640" cy="0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r>
              <a:rPr lang="en-US" sz="14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33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3708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since last update (+4 for edit_habit coverage)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" y="5074920"/>
            <a:ext cx="2834640" cy="0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822960" y="5212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failures · 0 skipped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51960" y="2103120"/>
            <a:ext cx="1371600" cy="1920240"/>
          </a:xfrm>
          <a:prstGeom prst="roundRect">
            <a:avLst>
              <a:gd name="adj" fmla="val 3333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4251960" y="2103120"/>
            <a:ext cx="54864" cy="1920240"/>
          </a:xfrm>
          <a:prstGeom prst="roundRect">
            <a:avLst/>
          </a:prstGeom>
          <a:solidFill>
            <a:srgbClr val="3FA9F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361688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361688" y="3520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TestHabitCreation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742432" y="2103120"/>
            <a:ext cx="1371600" cy="1920240"/>
          </a:xfrm>
          <a:prstGeom prst="roundRect">
            <a:avLst>
              <a:gd name="adj" fmla="val 3333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5742432" y="2103120"/>
            <a:ext cx="54864" cy="1920240"/>
          </a:xfrm>
          <a:prstGeom prst="roundRect">
            <a:avLst/>
          </a:prstGeom>
          <a:solidFill>
            <a:srgbClr val="3FA9F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852160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852160" y="3520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TestCheckOff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7232904" y="2103120"/>
            <a:ext cx="1371600" cy="1920240"/>
          </a:xfrm>
          <a:prstGeom prst="roundRect">
            <a:avLst>
              <a:gd name="adj" fmla="val 3333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7232904" y="2103120"/>
            <a:ext cx="54864" cy="1920240"/>
          </a:xfrm>
          <a:prstGeom prst="round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7342632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342632" y="3520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TestEditHabit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7342632" y="2880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723376" y="2103120"/>
            <a:ext cx="1371600" cy="1920240"/>
          </a:xfrm>
          <a:prstGeom prst="roundRect">
            <a:avLst>
              <a:gd name="adj" fmla="val 3333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8723376" y="2103120"/>
            <a:ext cx="54864" cy="1920240"/>
          </a:xfrm>
          <a:prstGeom prst="roundRect">
            <a:avLst/>
          </a:prstGeom>
          <a:solidFill>
            <a:srgbClr val="3FA9F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8833104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833104" y="3520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TestDeleteHabit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10213848" y="2103120"/>
            <a:ext cx="1371600" cy="1920240"/>
          </a:xfrm>
          <a:prstGeom prst="roundRect">
            <a:avLst>
              <a:gd name="adj" fmla="val 3333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10213848" y="2103120"/>
            <a:ext cx="54864" cy="1920240"/>
          </a:xfrm>
          <a:prstGeom prst="roundRect">
            <a:avLst/>
          </a:prstGeom>
          <a:solidFill>
            <a:srgbClr val="3FA9F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10323576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0323576" y="3520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TestDailyStreak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4251960" y="4160520"/>
            <a:ext cx="1371600" cy="1920240"/>
          </a:xfrm>
          <a:prstGeom prst="roundRect">
            <a:avLst>
              <a:gd name="adj" fmla="val 3333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5"/>
          <p:cNvSpPr/>
          <p:nvPr/>
        </p:nvSpPr>
        <p:spPr>
          <a:xfrm>
            <a:off x="4251960" y="4160520"/>
            <a:ext cx="54864" cy="1920240"/>
          </a:xfrm>
          <a:prstGeom prst="roundRect">
            <a:avLst/>
          </a:prstGeom>
          <a:solidFill>
            <a:srgbClr val="3FA9F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4361688" y="4297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4361688" y="55778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TestWeeklyStreak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5742432" y="4160520"/>
            <a:ext cx="1371600" cy="1920240"/>
          </a:xfrm>
          <a:prstGeom prst="roundRect">
            <a:avLst>
              <a:gd name="adj" fmla="val 3333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Shape 39"/>
          <p:cNvSpPr/>
          <p:nvPr/>
        </p:nvSpPr>
        <p:spPr>
          <a:xfrm>
            <a:off x="5742432" y="4160520"/>
            <a:ext cx="54864" cy="1920240"/>
          </a:xfrm>
          <a:prstGeom prst="roundRect">
            <a:avLst/>
          </a:prstGeom>
          <a:solidFill>
            <a:srgbClr val="3FA9F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/>
          <p:nvPr/>
        </p:nvSpPr>
        <p:spPr>
          <a:xfrm>
            <a:off x="5852160" y="4297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5852160" y="55778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TestIsBroken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7232904" y="4160520"/>
            <a:ext cx="1371600" cy="1920240"/>
          </a:xfrm>
          <a:prstGeom prst="roundRect">
            <a:avLst>
              <a:gd name="adj" fmla="val 3333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43"/>
          <p:cNvSpPr/>
          <p:nvPr/>
        </p:nvSpPr>
        <p:spPr>
          <a:xfrm>
            <a:off x="7232904" y="4160520"/>
            <a:ext cx="54864" cy="1920240"/>
          </a:xfrm>
          <a:prstGeom prst="roundRect">
            <a:avLst/>
          </a:prstGeom>
          <a:solidFill>
            <a:srgbClr val="3FA9F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6" name="Text 44"/>
          <p:cNvSpPr/>
          <p:nvPr/>
        </p:nvSpPr>
        <p:spPr>
          <a:xfrm>
            <a:off x="7342632" y="4297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7342632" y="55778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TestAnalytics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8723376" y="4160520"/>
            <a:ext cx="1371600" cy="1920240"/>
          </a:xfrm>
          <a:prstGeom prst="roundRect">
            <a:avLst>
              <a:gd name="adj" fmla="val 3333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Shape 47"/>
          <p:cNvSpPr/>
          <p:nvPr/>
        </p:nvSpPr>
        <p:spPr>
          <a:xfrm>
            <a:off x="8723376" y="4160520"/>
            <a:ext cx="54864" cy="1920240"/>
          </a:xfrm>
          <a:prstGeom prst="roundRect">
            <a:avLst/>
          </a:prstGeom>
          <a:solidFill>
            <a:srgbClr val="3FA9F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0" name="Text 48"/>
          <p:cNvSpPr/>
          <p:nvPr/>
        </p:nvSpPr>
        <p:spPr>
          <a:xfrm>
            <a:off x="8833104" y="4297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8833104" y="55778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TestStorage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10213848" y="4160520"/>
            <a:ext cx="1371600" cy="1920240"/>
          </a:xfrm>
          <a:prstGeom prst="roundRect">
            <a:avLst>
              <a:gd name="adj" fmla="val 3333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Shape 51"/>
          <p:cNvSpPr/>
          <p:nvPr/>
        </p:nvSpPr>
        <p:spPr>
          <a:xfrm>
            <a:off x="10213848" y="4160520"/>
            <a:ext cx="54864" cy="1920240"/>
          </a:xfrm>
          <a:prstGeom prst="roundRect">
            <a:avLst/>
          </a:prstGeom>
          <a:solidFill>
            <a:srgbClr val="3FA9F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4" name="Text 52"/>
          <p:cNvSpPr/>
          <p:nvPr/>
        </p:nvSpPr>
        <p:spPr>
          <a:xfrm>
            <a:off x="10323576" y="4297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10323576" y="55778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TestFixtures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1110996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9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VERIFIED THIS SESSION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Health Check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below was actually run and confirmed, not just claimed — each line reflects a real pytest pass or a manual end-to-end walkthrough.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91672" cy="4297680"/>
          </a:xfrm>
          <a:prstGeom prst="roundRect">
            <a:avLst>
              <a:gd name="adj" fmla="val 1064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7301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2860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33 unit tests pass — creation, check-off, edit, delete, streaks, broken-habit, storage, fixtures, analytics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82092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7301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822960" y="28209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82092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edit_habit() manually walked through end-to-end: rename persisted through save/load and the analytics report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3558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7301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822960" y="3355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335584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delete_habit() requires an explicit ‘yes’ — no accidental data loss from a stray keypress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8907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7301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822960" y="38907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89077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function has a docstring; naming follows standard Python conventions (snake_case, PascalCase classes)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425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7301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822960" y="4425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442569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single-purpose files: habit.py, storage.py, analytics.py, fixtures.py, cli.py, test_habits.py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9606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7301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822960" y="49606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496062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module is fully functional-style: map / filter / max, zero mutation of its inputs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549554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7301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822960" y="5495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549554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and .py files kept in sync — same logic, same edit() and delete_habit() behavior in both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10996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9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1F3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r>
              <a:rPr lang="en-US" sz="1100" b="1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CLOSED — ALL SYSTEMS SETTLED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Trading Habit Tracker — object-oriented habit modeling, functional-programming analytics, and a CLI that covers the full create / read / update / delete lifecycle.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1737360" cy="1051560"/>
          </a:xfrm>
          <a:prstGeom prst="roundRect">
            <a:avLst>
              <a:gd name="adj" fmla="val 4348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48640" y="42245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23160" y="4114800"/>
            <a:ext cx="1737360" cy="1051560"/>
          </a:xfrm>
          <a:prstGeom prst="roundRect">
            <a:avLst>
              <a:gd name="adj" fmla="val 4348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423160" y="42245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23160" y="4754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0" y="4114800"/>
            <a:ext cx="1737360" cy="1051560"/>
          </a:xfrm>
          <a:prstGeom prst="roundRect">
            <a:avLst>
              <a:gd name="adj" fmla="val 4348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297680" y="42245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297680" y="4754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 OPTIONS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72200" y="4114800"/>
            <a:ext cx="1737360" cy="1051560"/>
          </a:xfrm>
          <a:prstGeom prst="roundRect">
            <a:avLst>
              <a:gd name="adj" fmla="val 4348"/>
            </a:avLst>
          </a:prstGeom>
          <a:solidFill>
            <a:srgbClr val="141B2B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172200" y="42245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72200" y="4754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HABITS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5532120"/>
            <a:ext cx="3017520" cy="0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Aynur Rzayeva-Karabulut
</a:t>
            </a:r>
            <a:r>
              <a:rPr lang="en-US" sz="11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Matriculation No. UPS10746239  ·  IU Internationale Hochschule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109960" y="6537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9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1489</Words>
  <Application>Microsoft Office PowerPoint</Application>
  <PresentationFormat>Widescreen</PresentationFormat>
  <Paragraphs>201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Aynur Rzayeva-Karabulut</cp:lastModifiedBy>
  <cp:revision>3</cp:revision>
  <dcterms:created xsi:type="dcterms:W3CDTF">2026-08-09T15:58:23Z</dcterms:created>
  <dcterms:modified xsi:type="dcterms:W3CDTF">2026-08-09T18:42:10Z</dcterms:modified>
</cp:coreProperties>
</file>